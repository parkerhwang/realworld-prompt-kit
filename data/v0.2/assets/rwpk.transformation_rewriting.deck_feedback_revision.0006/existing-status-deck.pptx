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/docProps/core.xml" Id="R0000000000000001" /><Relationship Type="http://schemas.openxmlformats.org/officeDocument/2006/relationships/extended-properties" Target="/docProps/app.xml" Id="R0000000000000002" /><Relationship Type="http://schemas.openxmlformats.org/officeDocument/2006/relationships/officeDocument" Target="/ppt/presentation.xml" Id="R00000000000000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00000000000005"/>
  </p:sldMasterIdLst>
  <p:notesMasterIdLst>
    <p:notesMasterId xmlns:r="http://schemas.openxmlformats.org/officeDocument/2006/relationships" r:id="R0000000000000006"/>
  </p:notesMasterIdLst>
  <p:sldIdLst>
    <p:sldId xmlns:r="http://schemas.openxmlformats.org/officeDocument/2006/relationships" id="256" r:id="R0000000000000009"/>
    <p:sldId xmlns:r="http://schemas.openxmlformats.org/officeDocument/2006/relationships" id="257" r:id="R000000000000000a"/>
    <p:sldId xmlns:r="http://schemas.openxmlformats.org/officeDocument/2006/relationships" id="258" r:id="R00000000000000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0000000000000004" /><Relationship Type="http://schemas.openxmlformats.org/officeDocument/2006/relationships/slideMaster" Target="/ppt/slideMasters/slideMaster1.xml" Id="R0000000000000005" /><Relationship Type="http://schemas.openxmlformats.org/officeDocument/2006/relationships/notesMaster" Target="/ppt/notesMasters/notesMaster1.xml" Id="R0000000000000006" /><Relationship Type="http://schemas.openxmlformats.org/officeDocument/2006/relationships/presProps" Target="/ppt/presProps.xml" Id="R0000000000000007" /><Relationship Type="http://schemas.openxmlformats.org/officeDocument/2006/relationships/tableStyles" Target="/ppt/tableStyles.xml" Id="R0000000000000008" /><Relationship Type="http://schemas.openxmlformats.org/officeDocument/2006/relationships/slide" Target="/ppt/slides/slide1.xml" Id="R0000000000000009" /><Relationship Type="http://schemas.openxmlformats.org/officeDocument/2006/relationships/slide" Target="/ppt/slides/slide2.xml" Id="R000000000000000a" /><Relationship Type="http://schemas.openxmlformats.org/officeDocument/2006/relationships/slide" Target="/ppt/slides/slide3.xml" Id="R000000000000000b" /></Relationships>
</file>

<file path=ppt/notesMasters/_rels/notesMaster1.xml.rels><?xml version="1.0" encoding="utf-8"?><Relationships xmlns="http://schemas.openxmlformats.org/package/2006/relationships"><Relationship Type="http://schemas.openxmlformats.org/officeDocument/2006/relationships/theme" Target="/ppt/notesMasters/theme/theme3.xml" Id="R00000000000000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?><Relationships xmlns="http://schemas.openxmlformats.org/package/2006/relationships"><Relationship Type="http://schemas.openxmlformats.org/officeDocument/2006/relationships/slide" Target="/ppt/slides/slide1.xml" Id="R000000000000000d" /><Relationship Type="http://schemas.openxmlformats.org/officeDocument/2006/relationships/notesMaster" Target="/ppt/notesMasters/notesMaster1.xml" Id="R000000000000000e" /></Relationships>
</file>

<file path=ppt/notesSlides/_rels/notesSlide2.xml.rels><?xml version="1.0" encoding="utf-8"?><Relationships xmlns="http://schemas.openxmlformats.org/package/2006/relationships"><Relationship Type="http://schemas.openxmlformats.org/officeDocument/2006/relationships/slide" Target="/ppt/slides/slide2.xml" Id="R000000000000000f" /><Relationship Type="http://schemas.openxmlformats.org/officeDocument/2006/relationships/notesMaster" Target="/ppt/notesMasters/notesMaster1.xml" Id="R0000000000000010" /></Relationships>
</file>

<file path=ppt/notesSlides/_rels/notesSlide3.xml.rels><?xml version="1.0" encoding="utf-8"?><Relationships xmlns="http://schemas.openxmlformats.org/package/2006/relationships"><Relationship Type="http://schemas.openxmlformats.org/officeDocument/2006/relationships/slide" Target="/ppt/slides/slide3.xml" Id="R0000000000000011" /><Relationship Type="http://schemas.openxmlformats.org/officeDocument/2006/relationships/notesMaster" Target="/ppt/notesMasters/notesMaster1.xml" Id="R00000000000000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00000000000000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/ppt/slideMasters/theme/theme2.xml" Id="R0000000000000014" /><Relationship Type="http://schemas.openxmlformats.org/officeDocument/2006/relationships/slideLayout" Target="/ppt/slideLayouts/slideLayout1.xml" Id="R00000000000000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000000000000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000000000000016" /><Relationship Type="http://schemas.openxmlformats.org/officeDocument/2006/relationships/notesSlide" Target="/ppt/notesSlides/notesSlide1.xml" Id="R0000000000000017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000000000000018" /><Relationship Type="http://schemas.openxmlformats.org/officeDocument/2006/relationships/chart" Target="/ppt/slides/charts/chart1.xml" Id="R0000000000000019" /><Relationship Type="http://schemas.openxmlformats.org/officeDocument/2006/relationships/notesSlide" Target="/ppt/notesSlides/notesSlide2.xml" Id="R000000000000001a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00000000000001b" /><Relationship Type="http://schemas.openxmlformats.org/officeDocument/2006/relationships/notesSlide" Target="/ppt/notesSlides/notesSlide3.xml" Id="R000000000000001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Readiness</c:v>
          </c:tx>
          <c:spPr>
            <a:solidFill xmlns:a="http://schemas.openxmlformats.org/drawingml/2006/main">
              <a:srgbClr val="2F6B8A"/>
            </a:solidFill>
          </c:spPr>
          <c:cat>
            <c:strLit>
              <c:ptCount val="4"/>
              <c:pt idx="0">
                <c:v>Data</c:v>
              </c:pt>
              <c:pt idx="1">
                <c:v>Training</c:v>
              </c:pt>
              <c:pt idx="2">
                <c:v>Support</c:v>
              </c:pt>
              <c:pt idx="3">
                <c:v>Handoff</c:v>
              </c:pt>
            </c:strLit>
          </c:cat>
          <c:val>
            <c:numLit>
              <c:formatCode>General</c:formatCode>
              <c:ptCount val="4"/>
              <c:pt idx="0">
                <c:v>92</c:v>
              </c:pt>
              <c:pt idx="1">
                <c:v>88</c:v>
              </c:pt>
              <c:pt idx="2">
                <c:v>81</c:v>
              </c:pt>
              <c:pt idx="3">
                <c:v>67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7E1E7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ccent-band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C7D4"/>
          </a:solidFill>
          <a:ln xmlns:a="http://schemas.openxmlformats.org/drawingml/2006/main" w="0">
            <a:solidFill>
              <a:srgbClr val="57C7D4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7C7D4"/>
                </a:solidFill>
              </a:defRPr>
            </a:pPr>
            <a:r>
              <a:rPr sz="1500" b="1">
                <a:solidFill>
                  <a:srgbClr val="57C7D4"/>
                </a:solidFill>
              </a:rPr>
              <a:t>EXISTING DRAFT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Service readiness update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9048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8E6ED"/>
                </a:solidFill>
              </a:defRPr>
            </a:pPr>
            <a:r>
              <a:rPr sz="2175" b="0">
                <a:solidFill>
                  <a:srgbClr val="D8E6ED"/>
                </a:solidFill>
              </a:rPr>
              <a:t>A synthetic draft deck before reviewer feedback is applied.</a:t>
            </a:r>
          </a:p>
        </p:txBody>
      </p:sp>
      <p:sp>
        <p:nvSpPr>
          <p:cNvPr id="5" name="deck-period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Q2 2026</a:t>
            </a:r>
          </a:p>
        </p:txBody>
      </p:sp>
      <p:sp>
        <p:nvSpPr>
          <p:cNvPr id="6" name="footer-1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B79"/>
                </a:solidFill>
              </a:defRPr>
            </a:pPr>
            <a:r>
              <a:rPr sz="1125" b="0">
                <a:solidFill>
                  <a:srgbClr val="5D6B79"/>
                </a:solidFill>
              </a:rPr>
              <a:t>RWPK v0.2 synthetic fixture  |  1</a:t>
            </a: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24D"/>
                </a:solidFill>
              </a:defRPr>
            </a:pPr>
            <a:r>
              <a:rPr sz="3600" b="1">
                <a:solidFill>
                  <a:srgbClr val="17324D"/>
                </a:solidFill>
              </a:rPr>
              <a:t>Readiness is improving, but handoff risk remains</a:t>
            </a:r>
          </a:p>
        </p:txBody>
      </p:sp>
      <p:sp>
        <p:nvSpPr>
          <p:cNvPr id="2" name="rule-132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295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C7D4"/>
          </a:solidFill>
          <a:ln xmlns:a="http://schemas.openxmlformats.org/drawingml/2006/main" w="0">
            <a:solidFill>
              <a:srgbClr val="57C7D4"/>
            </a:solidFill>
            <a:prstDash val="solid"/>
          </a:ln>
        </p:spPr>
      </p:sp>
      <p:sp>
        <p:nvSpPr>
          <p:cNvPr id="3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2E7D65"/>
                </a:solidFill>
              </a:defRPr>
            </a:pPr>
            <a:r>
              <a:rPr sz="4950" b="1">
                <a:solidFill>
                  <a:srgbClr val="2E7D65"/>
                </a:solidFill>
              </a:rPr>
              <a:t>82%</a:t>
            </a:r>
          </a:p>
        </p:txBody>
      </p:sp>
      <p:sp>
        <p:nvSpPr>
          <p:cNvPr id="4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342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79"/>
                </a:solidFill>
              </a:defRPr>
            </a:pPr>
            <a:r>
              <a:rPr sz="1875" b="0">
                <a:solidFill>
                  <a:srgbClr val="5D6B79"/>
                </a:solidFill>
              </a:rPr>
              <a:t>workstreams marked ready</a:t>
            </a:r>
          </a:p>
        </p:txBody>
      </p:sp>
      <p:sp>
        <p:nvSpPr>
          <p:cNvPr id="5" name="metric-interpretation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3524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0"/>
                </a:solidFill>
              </a:defRPr>
            </a:pPr>
            <a:r>
              <a:rPr sz="1800" b="0">
                <a:solidFill>
                  <a:srgbClr val="182230"/>
                </a:solidFill>
              </a:rPr>
              <a:t>The draft does not yet separate confirmed readiness from owner-reported confidence.</a:t>
            </a:r>
          </a:p>
        </p:txBody>
      </p:sp>
      <p:sp>
        <p:nvSpPr>
          <p:cNvPr id="6" name="chart-fram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76400"/>
            <a:ext cx="6819900" cy="38862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7E1E7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143500" y="2076450"/>
          <a:ext xmlns:a="http://schemas.openxmlformats.org/drawingml/2006/main" cx="5905500" cy="3028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00000000000019"/>
          </a:graphicData>
        </a:graphic>
      </p:graphicFrame>
      <p:sp>
        <p:nvSpPr>
          <p:cNvPr id="8" name="footer-2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B79"/>
                </a:solidFill>
              </a:defRPr>
            </a:pPr>
            <a:r>
              <a:rPr sz="1125" b="0">
                <a:solidFill>
                  <a:srgbClr val="5D6B79"/>
                </a:solidFill>
              </a:rPr>
              <a:t>RWPK v0.2 synthetic fixture  |  2</a:t>
            </a:r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D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24D"/>
                </a:solidFill>
              </a:defRPr>
            </a:pPr>
            <a:r>
              <a:rPr sz="3600" b="1">
                <a:solidFill>
                  <a:srgbClr val="17324D"/>
                </a:solidFill>
              </a:rPr>
              <a:t>Draft actions</a:t>
            </a:r>
          </a:p>
        </p:txBody>
      </p:sp>
      <p:sp>
        <p:nvSpPr>
          <p:cNvPr id="2" name="rule-132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295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8A"/>
          </a:solidFill>
          <a:ln xmlns:a="http://schemas.openxmlformats.org/drawingml/2006/main" w="0">
            <a:solidFill>
              <a:srgbClr val="2F6B8A"/>
            </a:solidFill>
            <a:prstDash val="solid"/>
          </a:ln>
        </p:spPr>
      </p:sp>
      <p:sp>
        <p:nvSpPr>
          <p:cNvPr id="3" name="action-number-1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85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7C7D4"/>
                </a:solidFill>
              </a:defRPr>
            </a:pPr>
            <a:r>
              <a:rPr sz="2850" b="1">
                <a:solidFill>
                  <a:srgbClr val="57C7D4"/>
                </a:solidFill>
              </a:rPr>
              <a:t>01</a:t>
            </a:r>
          </a:p>
        </p:txBody>
      </p:sp>
      <p:sp>
        <p:nvSpPr>
          <p:cNvPr id="4" name="action-title-1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7907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Close data checks</a:t>
            </a:r>
          </a:p>
        </p:txBody>
      </p:sp>
      <p:sp>
        <p:nvSpPr>
          <p:cNvPr id="5" name="action-detail-1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7165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</a:defRPr>
            </a:pPr>
            <a:r>
              <a:rPr sz="1650" b="0">
                <a:solidFill>
                  <a:srgbClr val="182230"/>
                </a:solidFill>
              </a:rPr>
              <a:t>Confirm the last migration sample before the next review.</a:t>
            </a:r>
          </a:p>
        </p:txBody>
      </p:sp>
      <p:sp>
        <p:nvSpPr>
          <p:cNvPr id="6" name="action-number-2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85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7C7D4"/>
                </a:solidFill>
              </a:defRPr>
            </a:pPr>
            <a:r>
              <a:rPr sz="2850" b="1">
                <a:solidFill>
                  <a:srgbClr val="57C7D4"/>
                </a:solidFill>
              </a:rPr>
              <a:t>02</a:t>
            </a:r>
          </a:p>
        </p:txBody>
      </p:sp>
      <p:sp>
        <p:nvSpPr>
          <p:cNvPr id="7" name="action-title-2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623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Finish training</a:t>
            </a:r>
          </a:p>
        </p:txBody>
      </p:sp>
      <p:sp>
        <p:nvSpPr>
          <p:cNvPr id="8" name="action-detail-2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4325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</a:defRPr>
            </a:pPr>
            <a:r>
              <a:rPr sz="1650" b="0">
                <a:solidFill>
                  <a:srgbClr val="182230"/>
                </a:solidFill>
              </a:rPr>
              <a:t>Publish the role-based quick reference.</a:t>
            </a:r>
          </a:p>
        </p:txBody>
      </p:sp>
      <p:sp>
        <p:nvSpPr>
          <p:cNvPr id="9" name="action-number-3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33900"/>
            <a:ext cx="85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7C7D4"/>
                </a:solidFill>
              </a:defRPr>
            </a:pPr>
            <a:r>
              <a:rPr sz="2850" b="1">
                <a:solidFill>
                  <a:srgbClr val="57C7D4"/>
                </a:solidFill>
              </a:rPr>
              <a:t>03</a:t>
            </a:r>
          </a:p>
        </p:txBody>
      </p:sp>
      <p:sp>
        <p:nvSpPr>
          <p:cNvPr id="10" name="action-title-3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339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Prepare handoff</a:t>
            </a:r>
          </a:p>
        </p:txBody>
      </p:sp>
      <p:sp>
        <p:nvSpPr>
          <p:cNvPr id="11" name="action-detail-3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1485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</a:defRPr>
            </a:pPr>
            <a:r>
              <a:rPr sz="1650" b="0">
                <a:solidFill>
                  <a:srgbClr val="182230"/>
                </a:solidFill>
              </a:rPr>
              <a:t>Assign the support owner and escalation window.</a:t>
            </a:r>
          </a:p>
        </p:txBody>
      </p:sp>
      <p:sp>
        <p:nvSpPr>
          <p:cNvPr id="12" name="footer-3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B79"/>
                </a:solidFill>
              </a:defRPr>
            </a:pPr>
            <a:r>
              <a:rPr sz="1125" b="0">
                <a:solidFill>
                  <a:srgbClr val="5D6B79"/>
                </a:solidFill>
              </a:rPr>
              <a:t>RWPK v0.2 synthetic fixture  |  3</a:t>
            </a:r>
          </a:p>
        </p:txBody>
      </p:sp>
    </p:spTree>
    <p:extLst>
      <p:ext uri="{BB962C8B-B14F-4D97-AF65-F5344CB8AC3E}">
        <p14:creationId xmlns:p14="http://schemas.microsoft.com/office/powerpoint/2010/main" val="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2026-07-31T00:00:00Z</dcterms:created>
  <dcterms:modified xsi:type="dcterms:W3CDTF">2026-07-31T00:00:00Z</dcterms:modified>
</coreProperties>
</file>