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0000000000000001" /><Relationship Type="http://schemas.openxmlformats.org/officeDocument/2006/relationships/extended-properties" Target="/docProps/app.xml" Id="R0000000000000002" /><Relationship Type="http://schemas.openxmlformats.org/officeDocument/2006/relationships/officeDocument" Target="/ppt/presentation.xml" Id="R0000000000000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0000000000005"/>
  </p:sldMasterIdLst>
  <p:notesMasterIdLst>
    <p:notesMasterId xmlns:r="http://schemas.openxmlformats.org/officeDocument/2006/relationships" r:id="R0000000000000006"/>
  </p:notesMasterIdLst>
  <p:sldIdLst>
    <p:sldId xmlns:r="http://schemas.openxmlformats.org/officeDocument/2006/relationships" id="256" r:id="R0000000000000009"/>
    <p:sldId xmlns:r="http://schemas.openxmlformats.org/officeDocument/2006/relationships" id="257" r:id="R000000000000000a"/>
    <p:sldId xmlns:r="http://schemas.openxmlformats.org/officeDocument/2006/relationships" id="258" r:id="R00000000000000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0000000000000004" /><Relationship Type="http://schemas.openxmlformats.org/officeDocument/2006/relationships/slideMaster" Target="/ppt/slideMasters/slideMaster1.xml" Id="R0000000000000005" /><Relationship Type="http://schemas.openxmlformats.org/officeDocument/2006/relationships/notesMaster" Target="/ppt/notesMasters/notesMaster1.xml" Id="R0000000000000006" /><Relationship Type="http://schemas.openxmlformats.org/officeDocument/2006/relationships/presProps" Target="/ppt/presProps.xml" Id="R0000000000000007" /><Relationship Type="http://schemas.openxmlformats.org/officeDocument/2006/relationships/tableStyles" Target="/ppt/tableStyles.xml" Id="R0000000000000008" /><Relationship Type="http://schemas.openxmlformats.org/officeDocument/2006/relationships/slide" Target="/ppt/slides/slide1.xml" Id="R0000000000000009" /><Relationship Type="http://schemas.openxmlformats.org/officeDocument/2006/relationships/slide" Target="/ppt/slides/slide2.xml" Id="R000000000000000a" /><Relationship Type="http://schemas.openxmlformats.org/officeDocument/2006/relationships/slide" Target="/ppt/slides/slide3.xml" Id="R000000000000000b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0000000000000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000000000000000d" /><Relationship Type="http://schemas.openxmlformats.org/officeDocument/2006/relationships/notesMaster" Target="/ppt/notesMasters/notesMaster1.xml" Id="R000000000000000e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000000000000000f" /><Relationship Type="http://schemas.openxmlformats.org/officeDocument/2006/relationships/notesMaster" Target="/ppt/notesMasters/notesMaster1.xml" Id="R0000000000000010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0000000000000011" /><Relationship Type="http://schemas.openxmlformats.org/officeDocument/2006/relationships/notesMaster" Target="/ppt/notesMasters/notesMaster1.xml" Id="R0000000000000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0000000000000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000000000000014" /><Relationship Type="http://schemas.openxmlformats.org/officeDocument/2006/relationships/slideLayout" Target="/ppt/slideLayouts/slideLayout1.xml" Id="R0000000000000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0000000000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6" /><Relationship Type="http://schemas.openxmlformats.org/officeDocument/2006/relationships/notesSlide" Target="/ppt/notesSlides/notesSlide1.xml" Id="R0000000000000017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8" /><Relationship Type="http://schemas.openxmlformats.org/officeDocument/2006/relationships/chart" Target="/ppt/slides/charts/chart1.xml" Id="R0000000000000019" /><Relationship Type="http://schemas.openxmlformats.org/officeDocument/2006/relationships/notesSlide" Target="/ppt/notesSlides/notesSlide2.xml" Id="R000000000000001a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b" /><Relationship Type="http://schemas.openxmlformats.org/officeDocument/2006/relationships/notesSlide" Target="/ppt/notesSlides/notesSlide3.xml" Id="R00000000000000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Verified readiness</c:v>
          </c:tx>
          <c:spPr>
            <a:solidFill xmlns:a="http://schemas.openxmlformats.org/drawingml/2006/main">
              <a:srgbClr val="2F6B8A"/>
            </a:solidFill>
          </c:spPr>
          <c:cat>
            <c:strLit>
              <c:ptCount val="4"/>
              <c:pt idx="0">
                <c:v>Data</c:v>
              </c:pt>
              <c:pt idx="1">
                <c:v>Training</c:v>
              </c:pt>
              <c:pt idx="2">
                <c:v>Support</c:v>
              </c:pt>
              <c:pt idx="3">
                <c:v>Handoff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84</c:v>
              </c:pt>
              <c:pt idx="2">
                <c:v>78</c:v>
              </c:pt>
              <c:pt idx="3">
                <c:v>52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E1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ban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C7D4"/>
                </a:solidFill>
              </a:defRPr>
            </a:pPr>
            <a:r>
              <a:rPr sz="1500" b="1">
                <a:solidFill>
                  <a:srgbClr val="57C7D4"/>
                </a:solidFill>
              </a:rPr>
              <a:t>REVISED UPDATE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Handoff ownership is the remaining readiness gap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904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6ED"/>
                </a:solidFill>
              </a:defRPr>
            </a:pPr>
            <a:r>
              <a:rPr sz="2175" b="0">
                <a:solidFill>
                  <a:srgbClr val="D8E6ED"/>
                </a:solidFill>
              </a:rPr>
              <a:t>Reviewer feedback applied without changing the underlying source figures.</a:t>
            </a:r>
          </a:p>
        </p:txBody>
      </p:sp>
      <p:sp>
        <p:nvSpPr>
          <p:cNvPr id="5" name="deck-perio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1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Confirmed readiness is 76%, below the reported 82%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E7D65"/>
                </a:solidFill>
              </a:defRPr>
            </a:pPr>
            <a:r>
              <a:rPr sz="4950" b="1">
                <a:solidFill>
                  <a:srgbClr val="2E7D65"/>
                </a:solidFill>
              </a:rPr>
              <a:t>76%</a:t>
            </a:r>
          </a:p>
        </p:txBody>
      </p:sp>
      <p:sp>
        <p:nvSpPr>
          <p:cNvPr id="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79"/>
                </a:solidFill>
              </a:defRPr>
            </a:pPr>
            <a:r>
              <a:rPr sz="1875" b="0">
                <a:solidFill>
                  <a:srgbClr val="5D6B79"/>
                </a:solidFill>
              </a:rPr>
              <a:t>readiness after evidence checks</a:t>
            </a:r>
          </a:p>
        </p:txBody>
      </p:sp>
      <p:sp>
        <p:nvSpPr>
          <p:cNvPr id="5" name="metric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52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</a:defRPr>
            </a:pPr>
            <a:r>
              <a:rPr sz="1800" b="0">
                <a:solidFill>
                  <a:srgbClr val="182230"/>
                </a:solidFill>
              </a:rPr>
              <a:t>The revision distinguishes verified completion from owner confidence and keeps all figures source-grounded.</a:t>
            </a:r>
          </a:p>
        </p:txBody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6819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7E1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0" y="2076450"/>
          <a:ext xmlns:a="http://schemas.openxmlformats.org/drawingml/2006/main" cx="5905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00000000000019"/>
          </a:graphicData>
        </a:graphic>
      </p:graphicFrame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2</a:t>
            </a: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Three actions resolve the gap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8A"/>
          </a:solidFill>
          <a:ln xmlns:a="http://schemas.openxmlformats.org/drawingml/2006/main" w="0">
            <a:solidFill>
              <a:srgbClr val="2F6B8A"/>
            </a:solidFill>
            <a:prstDash val="solid"/>
          </a:ln>
        </p:spPr>
      </p:sp>
      <p:sp>
        <p:nvSpPr>
          <p:cNvPr id="3" name="action-numb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01</a:t>
            </a:r>
          </a:p>
        </p:txBody>
      </p:sp>
      <p:sp>
        <p:nvSpPr>
          <p:cNvPr id="4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Assign handoff owner</a:t>
            </a:r>
          </a:p>
        </p:txBody>
      </p:sp>
      <p:sp>
        <p:nvSpPr>
          <p:cNvPr id="5" name="action-detai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Name one accountable role by July 8.</a:t>
            </a:r>
          </a:p>
        </p:txBody>
      </p:sp>
      <p:sp>
        <p:nvSpPr>
          <p:cNvPr id="6" name="action-numb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02</a:t>
            </a:r>
          </a:p>
        </p:txBody>
      </p:sp>
      <p:sp>
        <p:nvSpPr>
          <p:cNvPr id="7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Verify training</a:t>
            </a:r>
          </a:p>
        </p:txBody>
      </p:sp>
      <p:sp>
        <p:nvSpPr>
          <p:cNvPr id="8" name="action-detai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Use completion records rather than self-reported confidence.</a:t>
            </a:r>
          </a:p>
        </p:txBody>
      </p:sp>
      <p:sp>
        <p:nvSpPr>
          <p:cNvPr id="9" name="action-numb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03</a:t>
            </a:r>
          </a:p>
        </p:txBody>
      </p:sp>
      <p:sp>
        <p:nvSpPr>
          <p:cNvPr id="10" name="action-title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Publish escalation path</a:t>
            </a:r>
          </a:p>
        </p:txBody>
      </p:sp>
      <p:sp>
        <p:nvSpPr>
          <p:cNvPr id="11" name="action-detai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Document the first-response and executive escalation windows.</a:t>
            </a:r>
          </a:p>
        </p:txBody>
      </p:sp>
      <p:sp>
        <p:nvSpPr>
          <p:cNvPr id="12" name="foot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3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2026-07-31T00:00:00Z</dcterms:created>
  <dcterms:modified xsi:type="dcterms:W3CDTF">2026-07-31T00:00:00Z</dcterms:modified>
</coreProperties>
</file>